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731519"/>
            <a:ext cx="3108960" cy="3108960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846320"/>
            <a:ext cx="2377440" cy="2377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4206240"/>
            <a:ext cx="2194560" cy="2194560"/>
          </a:xfrm>
          <a:prstGeom prst="ellipse">
            <a:avLst/>
          </a:prstGeom>
          <a:noFill/>
          <a:ln w="254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98863" y="3849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50424" y="4718304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38944" y="6181344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38744" y="5541264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AI4CHEM · 反应优化工作区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6596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1E293B"/>
                </a:solidFill>
                <a:latin typeface="Microsoft YaHei"/>
                <a:ea typeface="Microsoft YaHei"/>
              </a:rPr>
              <a:t>BOUSE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310128"/>
            <a:ext cx="1051560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3310128"/>
            <a:ext cx="32004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5661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64748B"/>
                </a:solidFill>
                <a:latin typeface="Microsoft YaHei"/>
                <a:ea typeface="Microsoft YaHei"/>
              </a:rPr>
              <a:t>闭环反应优化：描述符生成 ∥ EDBO 贝叶斯优化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4348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① 描述符生成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72968" y="44348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Microsoft YaHei"/>
                <a:ea typeface="Microsoft YaHei"/>
              </a:rPr>
              <a:t>② EDBO 优化向导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04688" y="44348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Microsoft YaHei"/>
                <a:ea typeface="Microsoft YaHei"/>
              </a:rPr>
              <a:t>③ 契约文件对接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汇报人：zhangzhou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457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icrosoft YaHei"/>
                <a:ea typeface="Microsoft YaHei"/>
              </a:rPr>
              <a:t>双界面并行 · 只通过约定文件对接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383280" cy="35661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① 描述符生成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Streamlit 界面 · :8502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1518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输入：SMILES 列表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455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EA5E9"/>
                </a:solidFill>
                <a:latin typeface="Microsoft YaHei"/>
                <a:ea typeface="Microsoft YaHei"/>
              </a:rPr>
              <a:t>RDKit 2D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314553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EA5E9"/>
                </a:solidFill>
                <a:latin typeface="Microsoft YaHei"/>
                <a:ea typeface="Microsoft YaHei"/>
              </a:rPr>
              <a:t>MACCS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210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EA5E9"/>
                </a:solidFill>
                <a:latin typeface="Microsoft YaHei"/>
                <a:ea typeface="Microsoft YaHei"/>
              </a:rPr>
              <a:t>Morgan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6210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EA5E9"/>
                </a:solidFill>
                <a:latin typeface="Microsoft YaHei"/>
                <a:ea typeface="Microsoft YaHei"/>
              </a:rPr>
              <a:t>Mordred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24528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输出：descriptor_&lt;因子&gt;.csv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817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另有 CLI：python cli.py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54480"/>
            <a:ext cx="3383280" cy="35661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1783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Microsoft YaHei"/>
                <a:ea typeface="Microsoft YaHei"/>
              </a:rPr>
              <a:t>② EDBO 优化向导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128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Streamlit 界面 · :8501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2615184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1  项目与目标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19" y="2999232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27248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2  定义搜索域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3511296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639312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3  推荐下一轮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4023360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4151376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4  回填结果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16916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</a:rPr>
              <a:t>约定文件交接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210312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4572000" y="2103120"/>
            <a:ext cx="3063240" cy="128016"/>
          </a:xfrm>
          <a:prstGeom prst="round2Same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00600" y="2395728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E293B"/>
                </a:solidFill>
                <a:latin typeface="Consolas"/>
                <a:ea typeface="Consolas"/>
              </a:rPr>
              <a:t>CONTRACT.md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944368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E293B"/>
                </a:solidFill>
                <a:latin typeface="Consolas"/>
                <a:ea typeface="Consolas"/>
              </a:rPr>
              <a:t>descriptor_&lt;因子&gt;.csv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3493008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E293B"/>
                </a:solidFill>
                <a:latin typeface="Consolas"/>
                <a:ea typeface="Consolas"/>
              </a:rPr>
              <a:t>handoff.py 校验/导入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3108960"/>
            <a:ext cx="68580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35240" y="3108960"/>
            <a:ext cx="6400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5349240"/>
            <a:ext cx="11155680" cy="86868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Folded Corner 33"/>
          <p:cNvSpPr/>
          <p:nvPr/>
        </p:nvSpPr>
        <p:spPr>
          <a:xfrm>
            <a:off x="777240" y="5559552"/>
            <a:ext cx="502920" cy="384048"/>
          </a:xfrm>
          <a:prstGeom prst="foldedCorner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550468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  <a:ea typeface="Microsoft YaHei"/>
              </a:rPr>
              <a:t>共享工作区  edbo/workspaces/&lt;项目&gt;/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833872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onsolas"/>
                <a:ea typeface="Consolas"/>
              </a:rPr>
              <a:t>config.json · descriptor_*.csv · history.csv · last_recommendations.csv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BOUSE · AI4CHEM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6035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457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Microsoft YaHei"/>
                <a:ea typeface="Microsoft YaHei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icrosoft YaHei"/>
                <a:ea typeface="Microsoft YaHei"/>
              </a:rPr>
              <a:t>闭环工作流：推荐 → 实验 → 回填 → 再推荐</a:t>
            </a:r>
          </a:p>
        </p:txBody>
      </p:sp>
      <p:sp>
        <p:nvSpPr>
          <p:cNvPr id="5" name="Donut 4"/>
          <p:cNvSpPr/>
          <p:nvPr/>
        </p:nvSpPr>
        <p:spPr>
          <a:xfrm>
            <a:off x="4313224" y="2167128"/>
            <a:ext cx="3566160" cy="3566160"/>
          </a:xfrm>
          <a:prstGeom prst="donut">
            <a:avLst>
              <a:gd name="adj" fmla="val 45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7200000">
            <a:off x="6887260" y="2305431"/>
            <a:ext cx="201168" cy="201168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7778800" y="3849624"/>
            <a:ext cx="201168" cy="201168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4400000">
            <a:off x="6887260" y="5393816"/>
            <a:ext cx="201168" cy="201168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8000000">
            <a:off x="5104180" y="5393816"/>
            <a:ext cx="201168" cy="201168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0">
            <a:off x="4212640" y="3849624"/>
            <a:ext cx="201168" cy="201168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3600000">
            <a:off x="5104180" y="2305431"/>
            <a:ext cx="201168" cy="201168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5096" y="1645920"/>
            <a:ext cx="1042415" cy="1042415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准备</a:t>
            </a:r>
          </a:p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SMILES</a:t>
            </a:r>
          </a:p>
        </p:txBody>
      </p:sp>
      <p:sp>
        <p:nvSpPr>
          <p:cNvPr id="13" name="Oval 12"/>
          <p:cNvSpPr/>
          <p:nvPr/>
        </p:nvSpPr>
        <p:spPr>
          <a:xfrm>
            <a:off x="5538520" y="160934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7119289" y="2537460"/>
            <a:ext cx="1042415" cy="1042415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</a:p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描述符</a:t>
            </a:r>
          </a:p>
        </p:txBody>
      </p:sp>
      <p:sp>
        <p:nvSpPr>
          <p:cNvPr id="15" name="Oval 14"/>
          <p:cNvSpPr/>
          <p:nvPr/>
        </p:nvSpPr>
        <p:spPr>
          <a:xfrm>
            <a:off x="7082713" y="250088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EA5E9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7119289" y="4320540"/>
            <a:ext cx="1042415" cy="1042415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对接</a:t>
            </a:r>
          </a:p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导入域</a:t>
            </a:r>
          </a:p>
        </p:txBody>
      </p:sp>
      <p:sp>
        <p:nvSpPr>
          <p:cNvPr id="17" name="Oval 16"/>
          <p:cNvSpPr/>
          <p:nvPr/>
        </p:nvSpPr>
        <p:spPr>
          <a:xfrm>
            <a:off x="7082713" y="42839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5575096" y="5212080"/>
            <a:ext cx="1042415" cy="1042415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BO 推荐</a:t>
            </a:r>
          </a:p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下一轮</a:t>
            </a:r>
          </a:p>
        </p:txBody>
      </p:sp>
      <p:sp>
        <p:nvSpPr>
          <p:cNvPr id="19" name="Oval 18"/>
          <p:cNvSpPr/>
          <p:nvPr/>
        </p:nvSpPr>
        <p:spPr>
          <a:xfrm>
            <a:off x="5538520" y="517550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4030904" y="4320540"/>
            <a:ext cx="1042415" cy="104241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湿实验</a:t>
            </a:r>
          </a:p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测定</a:t>
            </a:r>
          </a:p>
        </p:txBody>
      </p:sp>
      <p:sp>
        <p:nvSpPr>
          <p:cNvPr id="21" name="Oval 20"/>
          <p:cNvSpPr/>
          <p:nvPr/>
        </p:nvSpPr>
        <p:spPr>
          <a:xfrm>
            <a:off x="3994328" y="42839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4030904" y="2537460"/>
            <a:ext cx="1042415" cy="104241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回填</a:t>
            </a:r>
          </a:p>
          <a:p>
            <a:pPr algn="ctr">
              <a:lnSpc>
                <a:spcPct val="9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历史</a:t>
            </a:r>
          </a:p>
        </p:txBody>
      </p:sp>
      <p:sp>
        <p:nvSpPr>
          <p:cNvPr id="23" name="Oval 22"/>
          <p:cNvSpPr/>
          <p:nvPr/>
        </p:nvSpPr>
        <p:spPr>
          <a:xfrm>
            <a:off x="3994328" y="250088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5296204" y="31501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E293B"/>
                </a:solidFill>
                <a:latin typeface="Microsoft YaHei"/>
                <a:ea typeface="Microsoft YaHei"/>
              </a:rPr>
              <a:t>闭环优化</a:t>
            </a:r>
          </a:p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E293B"/>
                </a:solidFill>
                <a:latin typeface="Microsoft YaHei"/>
                <a:ea typeface="Microsoft YaHei"/>
              </a:rPr>
              <a:t>目标：收率↑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①–③  一次性准备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580644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Microsoft YaHei"/>
                <a:ea typeface="Microsoft YaHei"/>
              </a:rPr>
              <a:t>④–⑥  每轮迭代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155448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0B981"/>
                </a:solidFill>
                <a:latin typeface="Microsoft YaHei"/>
                <a:ea typeface="Microsoft YaHei"/>
              </a:rPr>
              <a:t>⑤ 人在回路 · 真实实验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BOUSE · AI4CHEM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6035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457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EA5E9"/>
                </a:solidFill>
                <a:latin typeface="Microsoft YaHei"/>
                <a:ea typeface="Microsoft YaHei"/>
              </a:rPr>
              <a:t>模块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icrosoft YaHei"/>
                <a:ea typeface="Microsoft YaHei"/>
              </a:rPr>
              <a:t>描述符生成：SMILES → 数值特征表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Consolas"/>
                <a:ea typeface="Consolas"/>
              </a:rPr>
              <a:t>molecules.csv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smiles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CCO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c1ccccc1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O=S(F)=O…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5681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4023360" cy="4160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938528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4748B"/>
                </a:solidFill>
                <a:latin typeface="Consolas"/>
                <a:ea typeface="Consolas"/>
              </a:rPr>
              <a:t>generators/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432304"/>
            <a:ext cx="356616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58768" y="2624328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7" y="248716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RDKit 2D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4871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~200 维理化描述符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27248"/>
            <a:ext cx="356616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58768" y="3319272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7" y="3182112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MACCS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8211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167 bit 结构密钥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822191"/>
            <a:ext cx="356616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58768" y="4014215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3087" y="3877055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Morgan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877055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ECFP 指纹 · 位数可配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517136"/>
            <a:ext cx="356616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58768" y="470916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33087" y="457200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Mordred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5720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1800+ 描述符（可选）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5212080"/>
            <a:ext cx="356616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58768" y="5404104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33087" y="526694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Clean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26694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外部表清洗 · 降维（DFT）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06040" y="3246120"/>
            <a:ext cx="82296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0" y="195681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Microsoft YaHei"/>
                <a:ea typeface="Microsoft YaHei"/>
              </a:rPr>
              <a:t>输出（契约格式）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37744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58200" y="2542032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  <a:ea typeface="Consolas"/>
              </a:rPr>
              <a:t>descriptor_solvent.csv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458200" y="3072384"/>
          <a:ext cx="299923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03504"/>
                <a:gridCol w="603504"/>
                <a:gridCol w="60350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molecule_id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f2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C1CCOC1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1.07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O=CN(C)C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64748B"/>
                          </a:solidFill>
                          <a:latin typeface="Consolas"/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8458200" y="4736592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F4444"/>
                </a:solidFill>
                <a:latin typeface="Microsoft YaHei"/>
                <a:ea typeface="Microsoft YaHei"/>
              </a:rPr>
              <a:t>失败分子 → *_failed.csv（不进 EDBO）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52360" y="3246120"/>
            <a:ext cx="77724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2920" y="61722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EA5E9"/>
                </a:solidFill>
                <a:latin typeface="Microsoft YaHei"/>
                <a:ea typeface="Microsoft YaHei"/>
              </a:rPr>
              <a:t>入口 A：Streamlit 界面 :8502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77639" y="61722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4748B"/>
                </a:solidFill>
                <a:latin typeface="Consolas"/>
                <a:ea typeface="Consolas"/>
              </a:rPr>
              <a:t>入口 B：python cli.py（同一后端）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BOUSE · AI4CHEM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6035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457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Microsoft YaHei"/>
                <a:ea typeface="Microsoft YaHei"/>
              </a:rPr>
              <a:t>模块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icrosoft YaHei"/>
                <a:ea typeface="Microsoft YaHei"/>
              </a:rPr>
              <a:t>EDBO 优化向导：四步完成一轮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87752" cy="3566160"/>
          </a:xfrm>
          <a:prstGeom prst="roundRect">
            <a:avLst>
              <a:gd name="adj" fmla="val 7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08176" y="1961388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22219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项目与目标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目标列：yield（最大化）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05072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05072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batch = 5 / 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35424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35424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内置模板一键建档</a:t>
            </a:r>
          </a:p>
        </p:txBody>
      </p:sp>
      <p:sp>
        <p:nvSpPr>
          <p:cNvPr id="14" name="Chevron 13"/>
          <p:cNvSpPr/>
          <p:nvPr/>
        </p:nvSpPr>
        <p:spPr>
          <a:xfrm>
            <a:off x="3063240" y="3337560"/>
            <a:ext cx="347472" cy="45720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1" y="1783080"/>
            <a:ext cx="2587752" cy="356616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70248" y="1961388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880360"/>
            <a:ext cx="22219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定义搜索域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3591" y="3474720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474720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化学因子 → 描述符表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93591" y="4005072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4005072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数值因子 → 取值列表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93591" y="4535424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4535424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全空间 31 万 → 采样 2500</a:t>
            </a:r>
          </a:p>
        </p:txBody>
      </p:sp>
      <p:sp>
        <p:nvSpPr>
          <p:cNvPr id="24" name="Chevron 23"/>
          <p:cNvSpPr/>
          <p:nvPr/>
        </p:nvSpPr>
        <p:spPr>
          <a:xfrm>
            <a:off x="5925312" y="3337560"/>
            <a:ext cx="347472" cy="45720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27064" y="1783080"/>
            <a:ext cx="2587752" cy="3566160"/>
          </a:xfrm>
          <a:prstGeom prst="roundRect">
            <a:avLst>
              <a:gd name="adj" fmla="val 7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0" y="1961388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2880360"/>
            <a:ext cx="22219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推荐下一轮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474720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474720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EI / TS / UCB / 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5664" y="4005072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4005072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无模型：LHS · Sobol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4535424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4535424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随机 · 极大极小距离</a:t>
            </a:r>
          </a:p>
        </p:txBody>
      </p:sp>
      <p:sp>
        <p:nvSpPr>
          <p:cNvPr id="34" name="Chevron 33"/>
          <p:cNvSpPr/>
          <p:nvPr/>
        </p:nvSpPr>
        <p:spPr>
          <a:xfrm>
            <a:off x="8787384" y="3337560"/>
            <a:ext cx="347472" cy="45720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89136" y="1783080"/>
            <a:ext cx="2587752" cy="356616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94392" y="1961388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2880360"/>
            <a:ext cx="22219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回填结果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17736" y="3474720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4896" y="3474720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导出测定模板 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17736" y="4005072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4896" y="4005072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填入实验收率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17736" y="4535424"/>
            <a:ext cx="2130552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54896" y="4535424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合并进 history.csv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383012" y="5349240"/>
            <a:ext cx="0" cy="457200"/>
          </a:xfrm>
          <a:prstGeom prst="line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520940" y="5806440"/>
            <a:ext cx="2862072" cy="0"/>
          </a:xfrm>
          <a:prstGeom prst="line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520940" y="5367527"/>
            <a:ext cx="0" cy="438913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257800" y="5614416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0B981"/>
                </a:solidFill>
                <a:latin typeface="Microsoft YaHei"/>
                <a:ea typeface="Microsoft YaHei"/>
              </a:rPr>
              <a:t>回填后再推荐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BOUSE · AI4CHEM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457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</a:rPr>
              <a:t>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icrosoft YaHei"/>
                <a:ea typeface="Microsoft YaHei"/>
              </a:rPr>
              <a:t>Demo：脱氧氟化反应优化（EDBO 官方数据）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6858000" cy="1600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R–OH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82880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Ar–SO₂F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磺酰氟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34840" y="2084831"/>
            <a:ext cx="1097280" cy="0"/>
          </a:xfrm>
          <a:prstGeom prst="line">
            <a:avLst/>
          </a:prstGeom>
          <a:ln w="28575">
            <a:solidFill>
              <a:srgbClr val="1E29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0" y="182880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</a:rPr>
              <a:t>R–F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</a:rPr>
              <a:t>氟化物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614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Deoxyfluorination · 碱 / 溶剂 / 温度 / 浓度 / 当量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6858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844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7 个因子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95344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</a:rPr>
              <a:t>磺酰氟 ×10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1408" y="3895344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EA5E9"/>
                </a:solidFill>
                <a:latin typeface="Microsoft YaHei"/>
                <a:ea typeface="Microsoft YaHei"/>
              </a:rPr>
              <a:t>碱 ×10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1296" y="3895344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4B8A6"/>
                </a:solidFill>
                <a:latin typeface="Microsoft YaHei"/>
                <a:ea typeface="Microsoft YaHei"/>
              </a:rPr>
              <a:t>溶剂 ×5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895344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</a:rPr>
              <a:t>化学因子 · 描述符 20 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52544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Microsoft YaHei"/>
                <a:ea typeface="Microsoft YaHei"/>
              </a:rPr>
              <a:t>浓度 ×5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21408" y="4352544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Microsoft YaHei"/>
                <a:ea typeface="Microsoft YaHei"/>
              </a:rPr>
              <a:t>当量 ×5 ×2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4352544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Microsoft YaHei"/>
                <a:ea typeface="Microsoft YaHei"/>
              </a:rPr>
              <a:t>温度 ×5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352544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</a:rPr>
              <a:t>数值因子 · 各 5 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6858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搜索空间</a:t>
            </a:r>
          </a:p>
        </p:txBody>
      </p:sp>
      <p:sp>
        <p:nvSpPr>
          <p:cNvPr id="24" name="Oval 23"/>
          <p:cNvSpPr/>
          <p:nvPr/>
        </p:nvSpPr>
        <p:spPr>
          <a:xfrm>
            <a:off x="873252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700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4148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39596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95044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50492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05940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61388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16836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272284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27732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83180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38628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94076" y="5554980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3252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700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84148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39596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495044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50492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05940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61388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16836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272284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427732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83180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738628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894076" y="5710428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3252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28700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84148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39596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95044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50492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805940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61388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16836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72284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427732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583180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38628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94076" y="5865876"/>
            <a:ext cx="82296" cy="82296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1520" y="5943600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全空间 312,500 组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91840" y="5779008"/>
            <a:ext cx="685799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4165091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20540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475988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31436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786883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42331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097779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253228" y="5554980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165091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20540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75988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631436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786883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42331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097779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253228" y="5710428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165091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320540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475988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631436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786883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942331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097779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253228" y="5865876"/>
            <a:ext cx="82296" cy="822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069080" y="59436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97316"/>
                </a:solidFill>
                <a:latin typeface="Microsoft YaHei"/>
                <a:ea typeface="Microsoft YaHei"/>
              </a:rPr>
              <a:t>采样 2,500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23560" y="59436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</a:rPr>
              <a:t>保留全部历史点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89520" y="1645920"/>
            <a:ext cx="40690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18120" y="181051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</a:rPr>
              <a:t>优化进程（demo 前 5 组实验）</a:t>
            </a:r>
          </a:p>
        </p:txBody>
      </p:sp>
      <p:pic>
        <p:nvPicPr>
          <p:cNvPr id="96" name="Picture 95" descr="opt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148840"/>
            <a:ext cx="3840480" cy="2651378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7589520" y="5532120"/>
            <a:ext cx="969264" cy="731520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89520" y="561441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batch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89520" y="5852160"/>
            <a:ext cx="9692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650224" y="5532120"/>
            <a:ext cx="969264" cy="731520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650224" y="561441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采集函数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50224" y="5852160"/>
            <a:ext cx="9692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  <a:ea typeface="Microsoft YaHei"/>
              </a:rPr>
              <a:t>EI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710928" y="5532120"/>
            <a:ext cx="969264" cy="731520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10928" y="561441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10928" y="5852160"/>
            <a:ext cx="9692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  <a:ea typeface="Microsoft YaHei"/>
              </a:rPr>
              <a:t>100 iters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771632" y="5532120"/>
            <a:ext cx="969264" cy="731520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771632" y="561441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71632" y="5852160"/>
            <a:ext cx="96926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  <a:ea typeface="Microsoft YaHei"/>
              </a:rPr>
              <a:t>yield 最大化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BOUSE · AI4CHEM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6035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457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Microsoft YaHei"/>
                <a:ea typeface="Microsoft YaHei"/>
              </a:rPr>
              <a:t>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icrosoft YaHei"/>
                <a:ea typeface="Microsoft YaHei"/>
              </a:rPr>
              <a:t>交接契约：只交换文件，不共享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描述符 CSV 规则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267712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必需列 molecule_id（唯一）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70048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特征列全部为数值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36976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401568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3697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文件名 descriptor_&lt;因子&gt;.csv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03904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968496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因子 key 与 config.json 一致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70831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535423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1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</a:rPr>
              <a:t>UTF-8 · 首行表头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1645920"/>
            <a:ext cx="3977639" cy="4480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Folded Corner 21"/>
          <p:cNvSpPr/>
          <p:nvPr/>
        </p:nvSpPr>
        <p:spPr>
          <a:xfrm>
            <a:off x="4343400" y="1874519"/>
            <a:ext cx="457200" cy="347472"/>
          </a:xfrm>
          <a:prstGeom prst="foldedCorner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874519"/>
            <a:ext cx="29260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onsolas"/>
                <a:ea typeface="Consolas"/>
              </a:rPr>
              <a:t>edbo/workspaces/deoxy_demo/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395728"/>
            <a:ext cx="342900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Folded Corner 24"/>
          <p:cNvSpPr/>
          <p:nvPr/>
        </p:nvSpPr>
        <p:spPr>
          <a:xfrm>
            <a:off x="4453128" y="2478024"/>
            <a:ext cx="310896" cy="310896"/>
          </a:xfrm>
          <a:prstGeom prst="foldedCorner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441448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Consolas"/>
                <a:ea typeface="Consolas"/>
              </a:rPr>
              <a:t>config.json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441448"/>
            <a:ext cx="8229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因子·目标·配置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962656"/>
            <a:ext cx="342900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Folded Corner 28"/>
          <p:cNvSpPr/>
          <p:nvPr/>
        </p:nvSpPr>
        <p:spPr>
          <a:xfrm>
            <a:off x="4453128" y="3044952"/>
            <a:ext cx="310896" cy="310896"/>
          </a:xfrm>
          <a:prstGeom prst="foldedCorner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00837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Consolas"/>
                <a:ea typeface="Consolas"/>
              </a:rPr>
              <a:t>descriptor_base.csv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3008376"/>
            <a:ext cx="8229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特征表 20 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529584"/>
            <a:ext cx="342900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Folded Corner 32"/>
          <p:cNvSpPr/>
          <p:nvPr/>
        </p:nvSpPr>
        <p:spPr>
          <a:xfrm>
            <a:off x="4453128" y="3611880"/>
            <a:ext cx="310896" cy="310896"/>
          </a:xfrm>
          <a:prstGeom prst="foldedCorner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57530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Consolas"/>
                <a:ea typeface="Consolas"/>
              </a:rPr>
              <a:t>descriptor_solvent.csv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3575304"/>
            <a:ext cx="8229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按因子一份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096512"/>
            <a:ext cx="342900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Folded Corner 36"/>
          <p:cNvSpPr/>
          <p:nvPr/>
        </p:nvSpPr>
        <p:spPr>
          <a:xfrm>
            <a:off x="4453128" y="4178808"/>
            <a:ext cx="310896" cy="310896"/>
          </a:xfrm>
          <a:prstGeom prst="foldedCorner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4142232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Consolas"/>
                <a:ea typeface="Consolas"/>
              </a:rPr>
              <a:t>history.csv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4142232"/>
            <a:ext cx="8229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实验 + yield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663440"/>
            <a:ext cx="342900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Folded Corner 40"/>
          <p:cNvSpPr/>
          <p:nvPr/>
        </p:nvSpPr>
        <p:spPr>
          <a:xfrm>
            <a:off x="4453128" y="4745736"/>
            <a:ext cx="310896" cy="310896"/>
          </a:xfrm>
          <a:prstGeom prst="foldedCorner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4709159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Consolas"/>
                <a:ea typeface="Consolas"/>
              </a:rPr>
              <a:t>last_recommendations.csv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4709159"/>
            <a:ext cx="8229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最近建议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394960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levels_&lt;因子&gt;.csv（OHE 编码时可选）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16459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校验与导入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21031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228600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python scripts/\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  validate_handoff.py \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  --workspace …/deoxy_demo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python scripts/\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Consolas"/>
              </a:rPr>
              <a:t>  import_descriptor.py 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12480" y="4434840"/>
            <a:ext cx="3291840" cy="43891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8B5CF6"/>
                </a:solidFill>
                <a:latin typeface="Microsoft YaHei"/>
                <a:ea typeface="Microsoft YaHei"/>
              </a:rPr>
              <a:t>UI 内也可一键导入（推荐）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5074920"/>
            <a:ext cx="3291840" cy="10515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5230368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契约化 = 可插拔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任何 BO 策略都能接入同一工作区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BOUSE · AI4CHEM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457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Microsoft YaHei"/>
                <a:ea typeface="Microsoft YaHei"/>
              </a:rPr>
              <a:t>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93B"/>
                </a:solidFill>
                <a:latin typeface="Microsoft YaHei"/>
                <a:ea typeface="Microsoft YaHei"/>
              </a:rPr>
              <a:t>一键启动 · 进展与路线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4846320" cy="105156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099" y="20528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57984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9339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Consolas"/>
                <a:ea typeface="Consolas"/>
              </a:rPr>
              <a:t>start_bouse.bat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591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双击 · 同时打开两个界面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834640"/>
            <a:ext cx="0" cy="292608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3154680"/>
            <a:ext cx="48463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502920" y="3154680"/>
            <a:ext cx="4846320" cy="310896"/>
          </a:xfrm>
          <a:prstGeom prst="round2Same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9515" y="3259836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" y="325983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1852" y="3259836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3200400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Consolas"/>
                <a:ea typeface="Consolas"/>
              </a:rPr>
              <a:t>localhost:8501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30168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Microsoft YaHei"/>
                <a:ea typeface="Microsoft YaHei"/>
              </a:rPr>
              <a:t>② EDBO 优化向导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630168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Streamlit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26280"/>
            <a:ext cx="48463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502920" y="4526280"/>
            <a:ext cx="4846320" cy="310896"/>
          </a:xfrm>
          <a:prstGeom prst="round2Same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5" y="4631436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0684" y="463143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1852" y="4631436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800" y="4572000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Consolas"/>
                <a:ea typeface="Consolas"/>
              </a:rPr>
              <a:t>localhost:8502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01768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563EB"/>
                </a:solidFill>
                <a:latin typeface="Microsoft YaHei"/>
                <a:ea typeface="Microsoft YaHei"/>
              </a:rPr>
              <a:t>① 描述符生成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001768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Streamlit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1783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194560"/>
            <a:ext cx="5760720" cy="438912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62472" y="227685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194560"/>
            <a:ext cx="5029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Microsoft YaHei"/>
                <a:ea typeface="Microsoft YaHei"/>
              </a:rPr>
              <a:t>EDBO 可视化向导（四步）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2743200"/>
            <a:ext cx="5760720" cy="438912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62472" y="282549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743200"/>
            <a:ext cx="5029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Microsoft YaHei"/>
                <a:ea typeface="Microsoft YaHei"/>
              </a:rPr>
              <a:t>描述符生成界面 + CLI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3291839"/>
            <a:ext cx="5760720" cy="438912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62472" y="337413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291839"/>
            <a:ext cx="5029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Microsoft YaHei"/>
                <a:ea typeface="Microsoft YaHei"/>
              </a:rPr>
              <a:t>契约对接 · 校验 · 导入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0690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80" y="448056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更多描述符后端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448056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DFT 表 → clean 管线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502920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接入更多 BO 策略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502920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自动化闭环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833872"/>
            <a:ext cx="11155680" cy="530352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833872"/>
            <a:ext cx="11155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BOUSE — 让反应优化的闭环转起来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BOUSE · AI4CHEM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